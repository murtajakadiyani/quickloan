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Calibri"/>
              </a:rPr>
              <a:t>QuickLoan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9DBF0"/>
                </a:solidFill>
                <a:latin typeface="Calibri"/>
              </a:rPr>
              <a:t>AI Loan Pre-Qualification Assistant — FastFinance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9FC5E8"/>
                </a:solidFill>
                <a:latin typeface="Calibri"/>
              </a:rPr>
              <a:t>Agentic AI Engineering · Batch 1 · Launchpad Project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9CC6"/>
                </a:solidFill>
                <a:latin typeface="Calibri"/>
              </a:rPr>
              <a:t>Demo build: git tag s15  ·  2026-09-14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2D3748"/>
                </a:solidFill>
              </a:rPr>
              <a:t>•  Problem statement &amp; the one rule that shapes everything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D3748"/>
                </a:solidFill>
              </a:rPr>
              <a:t>•  System architecture — the multi-agent LangGraph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D3748"/>
                </a:solidFill>
              </a:rPr>
              <a:t>•  Security &amp; compliance guardrails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D3748"/>
                </a:solidFill>
              </a:rPr>
              <a:t>•  Data architecture — SQLite + ChromaDB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D3748"/>
                </a:solidFill>
              </a:rPr>
              <a:t>•  Live demo scenarios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D3748"/>
                </a:solidFill>
              </a:rPr>
              <a:t>•  Cloud deployment — Azure (ACR / ACI / Front Door)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D3748"/>
                </a:solidFill>
              </a:rPr>
              <a:t>•  Known gaps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WHY QUICKLOAN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>
                <a:solidFill>
                  <a:srgbClr val="1A365D"/>
                </a:solidFill>
              </a:rPr>
              <a:t>•  Manual pre-qualification is slow.  </a:t>
            </a:r>
            <a:r>
              <a:rPr sz="1700">
                <a:solidFill>
                  <a:srgbClr val="2D3748"/>
                </a:solidFill>
              </a:rPr>
              <a:t>Customers wait on a loan officer just to learn a rate or eligibility criterion.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1A365D"/>
                </a:solidFill>
              </a:rPr>
              <a:t>•  Rate/policy info drifts.  </a:t>
            </a:r>
            <a:r>
              <a:rPr sz="1700">
                <a:solidFill>
                  <a:srgbClr val="2D3748"/>
                </a:solidFill>
              </a:rPr>
              <a:t>Static FAQs and PDFs go stale the moment a rate changes.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1A365D"/>
                </a:solidFill>
              </a:rPr>
              <a:t>•  Compliance risk in ad-hoc answers.  </a:t>
            </a:r>
            <a:r>
              <a:rPr sz="1700">
                <a:solidFill>
                  <a:srgbClr val="2D3748"/>
                </a:solidFill>
              </a:rPr>
              <a:t>Any assistant that can imply “approved” creates real regulatory exposure.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FFF5E6"/>
          </a:solidFill>
          <a:ln w="12700">
            <a:solidFill>
              <a:srgbClr val="1A2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93792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B7791F"/>
                </a:solidFill>
                <a:latin typeface="Calibri"/>
              </a:rPr>
              <a:t>QuickLoan pre-qualifies only — it never approves or rejects a loan.</a:t>
            </a:r>
          </a:p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B7791F"/>
                </a:solidFill>
                <a:latin typeface="Calibri"/>
              </a:rPr>
              <a:t>Final approval always requires document verification, a credit bureau check, and sometimes a field inspection.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LangGraph Multi-Agent Architecture</a:t>
            </a:r>
          </a:p>
        </p:txBody>
      </p:sp>
      <p:pic>
        <p:nvPicPr>
          <p:cNvPr id="5" name="Picture 4" descr="langgrap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47120" cy="80767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How a Request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50" b="1">
                <a:solidFill>
                  <a:srgbClr val="1A365D"/>
                </a:solidFill>
              </a:rPr>
              <a:t>•  1. Guard  </a:t>
            </a:r>
            <a:r>
              <a:rPr sz="1650">
                <a:solidFill>
                  <a:srgbClr val="2D3748"/>
                </a:solidFill>
              </a:rPr>
              <a:t>Two-layer screen (regex + semantic Llama Prompt Guard 2) blocks PII and jailbreaks before any main LLM call.</a:t>
            </a:r>
          </a:p>
          <a:p>
            <a:pPr>
              <a:spcAft>
                <a:spcPts val="1400"/>
              </a:spcAft>
            </a:pPr>
            <a:r>
              <a:rPr sz="1650" b="1">
                <a:solidFill>
                  <a:srgbClr val="1A365D"/>
                </a:solidFill>
              </a:rPr>
              <a:t>•  2. Supervisor  </a:t>
            </a:r>
            <a:r>
              <a:rPr sz="1650">
                <a:solidFill>
                  <a:srgbClr val="2D3748"/>
                </a:solidFill>
              </a:rPr>
              <a:t>A dedicated classifier model routes into 5 labels: RATES / POLICY / RATES+POLICY / COMPLEX / OUT_OF_SCOPE.</a:t>
            </a:r>
          </a:p>
          <a:p>
            <a:pPr>
              <a:spcAft>
                <a:spcPts val="1400"/>
              </a:spcAft>
            </a:pPr>
            <a:r>
              <a:rPr sz="1650" b="1">
                <a:solidFill>
                  <a:srgbClr val="1A365D"/>
                </a:solidFill>
              </a:rPr>
              <a:t>•  3. Specialist agents  </a:t>
            </a:r>
            <a:r>
              <a:rPr sz="1650">
                <a:solidFill>
                  <a:srgbClr val="2D3748"/>
                </a:solidFill>
              </a:rPr>
              <a:t>Rates Agent (live MCP tool calls) and/or Policy Agent (RAG) answer — concurrently for compound questions.</a:t>
            </a:r>
          </a:p>
          <a:p>
            <a:pPr>
              <a:spcAft>
                <a:spcPts val="1400"/>
              </a:spcAft>
            </a:pPr>
            <a:r>
              <a:rPr sz="1650" b="1">
                <a:solidFill>
                  <a:srgbClr val="1A365D"/>
                </a:solidFill>
              </a:rPr>
              <a:t>•  4. Compliance Agent  </a:t>
            </a:r>
            <a:r>
              <a:rPr sz="1650">
                <a:solidFill>
                  <a:srgbClr val="2D3748"/>
                </a:solidFill>
              </a:rPr>
              <a:t>Every draft is checked for banned phrases and hallucinated rates against the live database.</a:t>
            </a:r>
          </a:p>
          <a:p>
            <a:pPr>
              <a:spcAft>
                <a:spcPts val="1400"/>
              </a:spcAft>
            </a:pPr>
            <a:r>
              <a:rPr sz="1650" b="1">
                <a:solidFill>
                  <a:srgbClr val="1A365D"/>
                </a:solidFill>
              </a:rPr>
              <a:t>•  5. Human-in-the-Loop  </a:t>
            </a:r>
            <a:r>
              <a:rPr sz="1650">
                <a:solidFill>
                  <a:srgbClr val="2D3748"/>
                </a:solidFill>
              </a:rPr>
              <a:t>Any revised response is held for operator approval before it ever reaches the customer.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Security &amp; Compliance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120640" cy="448056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365D"/>
                </a:solidFill>
                <a:latin typeface="Calibri"/>
              </a:rPr>
              <a:t>Input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Layer 1a — regex PII detection (Aadhaar, PAN)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Layer 1b — regex injection/jailbreak patterns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Layer 2 — Llama Prompt Guard 2 (semantic, catches rephrasings)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Unicode normalisation strips invisible smuggling characters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Fails OPEN on guard-model error — an outage never blocks legitimate traffic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554480"/>
            <a:ext cx="5120640" cy="448056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365D"/>
                </a:solidFill>
                <a:latin typeface="Calibri"/>
              </a:rPr>
              <a:t>Compliance &amp; HITL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488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Banned-phrase check — never implies a lending decision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Hallucinated-rate check — every quoted rate verified live against SQLite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One automated rewrite pass on failure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Revised responses held for human approval — never auto-sent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D3748"/>
                </a:solidFill>
              </a:rPr>
              <a:t>•  Fails SAFE to COMPLEX on classifier error — never silently skips escalation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Two Data Stores, One Reason</a:t>
            </a:r>
          </a:p>
        </p:txBody>
      </p:sp>
      <p:pic>
        <p:nvPicPr>
          <p:cNvPr id="5" name="Picture 4" descr="data_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515600" cy="60322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600" b="1">
                <a:solidFill>
                  <a:srgbClr val="1A365D"/>
                </a:solidFill>
              </a:rPr>
              <a:t>•  Orchestration  </a:t>
            </a:r>
            <a:r>
              <a:rPr sz="1600">
                <a:solidFill>
                  <a:srgbClr val="2D3748"/>
                </a:solidFill>
              </a:rPr>
              <a:t>LangGraph (StateGraph, conditional edges, checkpointers)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A365D"/>
                </a:solidFill>
              </a:rPr>
              <a:t>•  LLM Provider  </a:t>
            </a:r>
            <a:r>
              <a:rPr sz="1600">
                <a:solidFill>
                  <a:srgbClr val="2D3748"/>
                </a:solidFill>
              </a:rPr>
              <a:t>Groq — openai/gpt-oss-120b (agent), groq/compound-mini (classifier), Llama Prompt Guard 2 (guard)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A365D"/>
                </a:solidFill>
              </a:rPr>
              <a:t>•  Tool Protocol  </a:t>
            </a:r>
            <a:r>
              <a:rPr sz="1600">
                <a:solidFill>
                  <a:srgbClr val="2D3748"/>
                </a:solidFill>
              </a:rPr>
              <a:t>Model Context Protocol (MCP) — standalone FastMCP server over stdio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A365D"/>
                </a:solidFill>
              </a:rPr>
              <a:t>•  RAG  </a:t>
            </a:r>
            <a:r>
              <a:rPr sz="1600">
                <a:solidFill>
                  <a:srgbClr val="2D3748"/>
                </a:solidFill>
              </a:rPr>
              <a:t>ChromaDB + HuggingFace all-MiniLM-L6-v2 embeddings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A365D"/>
                </a:solidFill>
              </a:rPr>
              <a:t>•  Structured Data  </a:t>
            </a:r>
            <a:r>
              <a:rPr sz="1600">
                <a:solidFill>
                  <a:srgbClr val="2D3748"/>
                </a:solidFill>
              </a:rPr>
              <a:t>SQLite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A365D"/>
                </a:solidFill>
              </a:rPr>
              <a:t>•  Web UI  </a:t>
            </a:r>
            <a:r>
              <a:rPr sz="1600">
                <a:solidFill>
                  <a:srgbClr val="2D3748"/>
                </a:solidFill>
              </a:rPr>
              <a:t>Streamlit — multi-thread chat, live streaming, HITL review form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A365D"/>
                </a:solidFill>
              </a:rPr>
              <a:t>•  Observability  </a:t>
            </a:r>
            <a:r>
              <a:rPr sz="1600">
                <a:solidFill>
                  <a:srgbClr val="2D3748"/>
                </a:solidFill>
              </a:rPr>
              <a:t>LangSmith tracing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A365D"/>
                </a:solidFill>
              </a:rPr>
              <a:t>•  Deployment  </a:t>
            </a:r>
            <a:r>
              <a:rPr sz="1600">
                <a:solidFill>
                  <a:srgbClr val="2D3748"/>
                </a:solidFill>
              </a:rPr>
              <a:t>Docker (multi-stage) → Azure Container Registry → Azure Container Instances → Azure Front Door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Scenarios to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1A365D"/>
                </a:solidFill>
              </a:rPr>
              <a:t>•  1. Simple rate query  </a:t>
            </a:r>
            <a:r>
              <a:rPr sz="1600">
                <a:solidFill>
                  <a:srgbClr val="2D3748"/>
                </a:solidFill>
              </a:rPr>
              <a:t>“What is the home loan interest rate?” — live MCP tool call, streamed typewriter response.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A365D"/>
                </a:solidFill>
              </a:rPr>
              <a:t>•  2. Policy / documents query  </a:t>
            </a:r>
            <a:r>
              <a:rPr sz="1600">
                <a:solidFill>
                  <a:srgbClr val="2D3748"/>
                </a:solidFill>
              </a:rPr>
              <a:t>“What documents do I need for a personal loan?” — RAG-grounded answer.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A365D"/>
                </a:solidFill>
              </a:rPr>
              <a:t>•  3. Compound query  </a:t>
            </a:r>
            <a:r>
              <a:rPr sz="1600">
                <a:solidFill>
                  <a:srgbClr val="2D3748"/>
                </a:solidFill>
              </a:rPr>
              <a:t>“What are business loan rates and what documents are needed?” — both specialist agents run concurrently.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A365D"/>
                </a:solidFill>
              </a:rPr>
              <a:t>•  4. Guard block  </a:t>
            </a:r>
            <a:r>
              <a:rPr sz="1600">
                <a:solidFill>
                  <a:srgbClr val="2D3748"/>
                </a:solidFill>
              </a:rPr>
              <a:t>A message with an Aadhaar-shaped number — blocked before any LLM call.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A365D"/>
                </a:solidFill>
              </a:rPr>
              <a:t>•  5. Escalation  </a:t>
            </a:r>
            <a:r>
              <a:rPr sz="1600">
                <a:solidFill>
                  <a:srgbClr val="2D3748"/>
                </a:solidFill>
              </a:rPr>
              <a:t>“Which loan is best for me?” — routed straight to a human officer, no LLM guess.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A365D"/>
                </a:solidFill>
              </a:rPr>
              <a:t>•  6. Compliance + HITL  </a:t>
            </a:r>
            <a:r>
              <a:rPr sz="1600">
                <a:solidFill>
                  <a:srgbClr val="2D3748"/>
                </a:solidFill>
              </a:rPr>
              <a:t>A response that would imply guaranteed approval — auto-revised, held for operator approval.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Azure Architecture</a:t>
            </a:r>
          </a:p>
        </p:txBody>
      </p:sp>
      <p:pic>
        <p:nvPicPr>
          <p:cNvPr id="5" name="Picture 4" descr="azure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67274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Why ACI + Front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50" b="1">
                <a:solidFill>
                  <a:srgbClr val="1A365D"/>
                </a:solidFill>
              </a:rPr>
              <a:t>•  Docker multi-stage build  </a:t>
            </a:r>
            <a:r>
              <a:rPr sz="1550">
                <a:solidFill>
                  <a:srgbClr val="2D3748"/>
                </a:solidFill>
              </a:rPr>
              <a:t>Builder stage compiles dependencies; runtime stage ships only the compiled artefacts — no compiler toolchain in the final image.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A365D"/>
                </a:solidFill>
              </a:rPr>
              <a:t>•  Data baked in at build time  </a:t>
            </a:r>
            <a:r>
              <a:rPr sz="1550">
                <a:solidFill>
                  <a:srgbClr val="2D3748"/>
                </a:solidFill>
              </a:rPr>
              <a:t>SQLite seeding + ChromaDB ingestion run during the image build — zero external DB dependency at container start.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A365D"/>
                </a:solidFill>
              </a:rPr>
              <a:t>•  Non-root, port 80  </a:t>
            </a:r>
            <a:r>
              <a:rPr sz="1550">
                <a:solidFill>
                  <a:srgbClr val="2D3748"/>
                </a:solidFill>
              </a:rPr>
              <a:t>appuser + setcap grants the CAP_NET_BIND_SERVICE capability so the app can bind port 80 without running as root.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A365D"/>
                </a:solidFill>
              </a:rPr>
              <a:t>•  Azure Container Apps was blocked  </a:t>
            </a:r>
            <a:r>
              <a:rPr sz="1550">
                <a:solidFill>
                  <a:srgbClr val="2D3748"/>
                </a:solidFill>
              </a:rPr>
              <a:t>This subscription hit a hard 0-quota on Container App Environments — pivoted to Azure Container Instances instead.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A365D"/>
                </a:solidFill>
              </a:rPr>
              <a:t>•  Azure Front Door restores managed HTTPS  </a:t>
            </a:r>
            <a:r>
              <a:rPr sz="1550">
                <a:solidFill>
                  <a:srgbClr val="2D3748"/>
                </a:solidFill>
              </a:rPr>
              <a:t>ACI alone only serves plain HTTP; Front Door (Standard tier) adds a free managed TLS cert, HTTP→HTTPS redirect, and proxies to the ACI origin.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5E8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Known Gaps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365D"/>
                </a:solidFill>
                <a:latin typeface="Calibri"/>
              </a:rPr>
              <a:t>Known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D3748"/>
                </a:solidFill>
              </a:rPr>
              <a:t>•  EMI calculation tool planned in the PRD, not yet implemented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D3748"/>
                </a:solidFill>
              </a:rPr>
              <a:t>•  No automated pytest suite yet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D3748"/>
                </a:solidFill>
              </a:rPr>
              <a:t>•  Golden dataset still labelled with the earlier 3-category routing scheme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D3748"/>
                </a:solidFill>
              </a:rPr>
              <a:t>•  Single-replica deployment — checkpointer isn't externalised for horizontal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365D"/>
                </a:solidFill>
                <a:latin typeface="Calibri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A365D"/>
                </a:solidFill>
              </a:rPr>
              <a:t>•  Session 16  </a:t>
            </a:r>
            <a:r>
              <a:rPr sz="1550">
                <a:solidFill>
                  <a:srgbClr val="2D3748"/>
                </a:solidFill>
              </a:rPr>
              <a:t>Advanced evaluation + prompt versioning, including an EMI-calculation regression gate.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A365D"/>
                </a:solidFill>
              </a:rPr>
              <a:t>•  Session 17  </a:t>
            </a:r>
            <a:r>
              <a:rPr sz="1550">
                <a:solidFill>
                  <a:srgbClr val="2D3748"/>
                </a:solidFill>
              </a:rPr>
              <a:t>Demo Day — QuickLoan presented as the Batch 1 Launchpad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QuickLoan | FastFinance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3796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BF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FC5E8"/>
                </a:solidFill>
                <a:latin typeface="Calibri"/>
              </a:rPr>
              <a:t>QuickLoan | FastFinance India — AI pre-qualifies. Humans decide.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